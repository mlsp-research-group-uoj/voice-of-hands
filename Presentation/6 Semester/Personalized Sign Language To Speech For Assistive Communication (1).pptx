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9" r:id="rId2"/>
    <p:sldId id="256" r:id="rId3"/>
    <p:sldId id="257" r:id="rId4"/>
    <p:sldId id="258" r:id="rId5"/>
    <p:sldId id="260" r:id="rId6"/>
    <p:sldId id="276" r:id="rId7"/>
    <p:sldId id="277" r:id="rId8"/>
    <p:sldId id="278" r:id="rId9"/>
    <p:sldId id="279" r:id="rId10"/>
    <p:sldId id="263" r:id="rId11"/>
    <p:sldId id="265" r:id="rId12"/>
    <p:sldId id="267" r:id="rId13"/>
    <p:sldId id="274" r:id="rId14"/>
    <p:sldId id="264" r:id="rId15"/>
    <p:sldId id="271" r:id="rId16"/>
    <p:sldId id="262" r:id="rId17"/>
    <p:sldId id="275" r:id="rId18"/>
    <p:sldId id="268" r:id="rId19"/>
    <p:sldId id="270" r:id="rId20"/>
    <p:sldId id="280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A"/>
    <a:srgbClr val="F1F2FF"/>
    <a:srgbClr val="DEFDFC"/>
    <a:srgbClr val="DDFDDB"/>
    <a:srgbClr val="B6FBB3"/>
    <a:srgbClr val="7EEE93"/>
    <a:srgbClr val="1BCB3D"/>
    <a:srgbClr val="1FC33A"/>
    <a:srgbClr val="158528"/>
    <a:srgbClr val="156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3" autoAdjust="0"/>
    <p:restoredTop sz="94660"/>
  </p:normalViewPr>
  <p:slideViewPr>
    <p:cSldViewPr snapToGrid="0">
      <p:cViewPr varScale="1">
        <p:scale>
          <a:sx n="85" d="100"/>
          <a:sy n="85" d="100"/>
        </p:scale>
        <p:origin x="62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5C0DE4-F34B-4231-84CE-B10EB0306152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AA0796-42B4-409C-86D2-8ED142C31FAA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Input Video (Live/Broadcast)-(Webcam)</a:t>
          </a:r>
        </a:p>
      </dgm:t>
    </dgm:pt>
    <dgm:pt modelId="{F0092CCC-9C65-48ED-B5F1-E82EBD7F8935}" type="parTrans" cxnId="{52F6C137-8AF1-4E76-AA54-D19F71539978}">
      <dgm:prSet/>
      <dgm:spPr/>
      <dgm:t>
        <a:bodyPr/>
        <a:lstStyle/>
        <a:p>
          <a:endParaRPr lang="en-US"/>
        </a:p>
      </dgm:t>
    </dgm:pt>
    <dgm:pt modelId="{12ABE826-D3AE-44DD-83C8-526E00494523}" type="sibTrans" cxnId="{52F6C137-8AF1-4E76-AA54-D19F71539978}">
      <dgm:prSet/>
      <dgm:spPr/>
      <dgm:t>
        <a:bodyPr/>
        <a:lstStyle/>
        <a:p>
          <a:endParaRPr lang="en-US"/>
        </a:p>
      </dgm:t>
    </dgm:pt>
    <dgm:pt modelId="{AA97A3B7-BC00-42D6-8697-BBC400E7A56F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ROI Detection-(OpenCV/YOLOv8)</a:t>
          </a:r>
        </a:p>
      </dgm:t>
    </dgm:pt>
    <dgm:pt modelId="{02C678C3-7EAB-4D62-B299-17ECF1598FE4}" type="parTrans" cxnId="{5D6BAE56-1A9C-4213-B793-6BBF1A03B0FB}">
      <dgm:prSet/>
      <dgm:spPr/>
      <dgm:t>
        <a:bodyPr/>
        <a:lstStyle/>
        <a:p>
          <a:endParaRPr lang="en-US"/>
        </a:p>
      </dgm:t>
    </dgm:pt>
    <dgm:pt modelId="{E4CF63DC-1821-407B-BBFE-5EF4D1C29715}" type="sibTrans" cxnId="{5D6BAE56-1A9C-4213-B793-6BBF1A03B0FB}">
      <dgm:prSet/>
      <dgm:spPr/>
      <dgm:t>
        <a:bodyPr/>
        <a:lstStyle/>
        <a:p>
          <a:endParaRPr lang="en-US"/>
        </a:p>
      </dgm:t>
    </dgm:pt>
    <dgm:pt modelId="{74F50C7A-C549-4D63-8CED-00116045BE79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Feature Extraction </a:t>
          </a:r>
        </a:p>
        <a:p>
          <a:r>
            <a:rPr lang="en-US"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(Hand, Face, Pose)-(</a:t>
          </a:r>
          <a:r>
            <a:rPr lang="en-US" sz="1800" b="1" i="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MediaPipe</a:t>
          </a:r>
          <a:r>
            <a:rPr lang="en-US" sz="1800" b="1" i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85ECC04E-C4ED-4CFF-8A65-2D1F1F2B1922}" type="parTrans" cxnId="{508B3F37-8935-4088-9DB0-5B03278AA8D0}">
      <dgm:prSet/>
      <dgm:spPr/>
      <dgm:t>
        <a:bodyPr/>
        <a:lstStyle/>
        <a:p>
          <a:endParaRPr lang="en-US"/>
        </a:p>
      </dgm:t>
    </dgm:pt>
    <dgm:pt modelId="{B646EB32-53C4-46A6-81FE-8F7EE42F4F92}" type="sibTrans" cxnId="{508B3F37-8935-4088-9DB0-5B03278AA8D0}">
      <dgm:prSet/>
      <dgm:spPr/>
      <dgm:t>
        <a:bodyPr/>
        <a:lstStyle/>
        <a:p>
          <a:endParaRPr lang="en-US"/>
        </a:p>
      </dgm:t>
    </dgm:pt>
    <dgm:pt modelId="{FF825C51-4DCE-4A48-BDB6-A5E48743756C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Translation Model (Deep Learning Model)-(CNN+LSTM/TRANSFORMER)</a:t>
          </a:r>
        </a:p>
      </dgm:t>
    </dgm:pt>
    <dgm:pt modelId="{0F2CF7F4-A0F1-49AF-8DF6-8AAA7803A4D0}" type="parTrans" cxnId="{7D2DCF16-72D6-4ED2-A6C5-8F24EEE2159B}">
      <dgm:prSet/>
      <dgm:spPr/>
      <dgm:t>
        <a:bodyPr/>
        <a:lstStyle/>
        <a:p>
          <a:endParaRPr lang="en-US"/>
        </a:p>
      </dgm:t>
    </dgm:pt>
    <dgm:pt modelId="{32FD0A79-D9AF-4868-9C9A-FE7E633EB897}" type="sibTrans" cxnId="{7D2DCF16-72D6-4ED2-A6C5-8F24EEE2159B}">
      <dgm:prSet/>
      <dgm:spPr/>
      <dgm:t>
        <a:bodyPr/>
        <a:lstStyle/>
        <a:p>
          <a:endParaRPr lang="en-US"/>
        </a:p>
      </dgm:t>
    </dgm:pt>
    <dgm:pt modelId="{40E549C8-6695-4C19-82C8-5FC9958BD564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 Output </a:t>
          </a:r>
        </a:p>
      </dgm:t>
    </dgm:pt>
    <dgm:pt modelId="{B7896706-13FE-48A9-9F50-477CB30DE505}" type="parTrans" cxnId="{45E8A80B-9300-4788-8BE3-E815375B6567}">
      <dgm:prSet/>
      <dgm:spPr/>
      <dgm:t>
        <a:bodyPr/>
        <a:lstStyle/>
        <a:p>
          <a:endParaRPr lang="en-US"/>
        </a:p>
      </dgm:t>
    </dgm:pt>
    <dgm:pt modelId="{8EA2FFD0-DC79-4547-AB0A-58D201D44E2B}" type="sibTrans" cxnId="{45E8A80B-9300-4788-8BE3-E815375B6567}">
      <dgm:prSet/>
      <dgm:spPr/>
      <dgm:t>
        <a:bodyPr/>
        <a:lstStyle/>
        <a:p>
          <a:endParaRPr lang="en-US"/>
        </a:p>
      </dgm:t>
    </dgm:pt>
    <dgm:pt modelId="{49737B01-A4F7-4DE4-9CD1-C80EF6512793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 To Speech (TTS) -(GTTS)</a:t>
          </a:r>
        </a:p>
      </dgm:t>
    </dgm:pt>
    <dgm:pt modelId="{574ED89D-F962-4FA0-BE17-E05F487D175E}" type="parTrans" cxnId="{7026C784-2ECF-41E7-A724-AFA8D4B864C6}">
      <dgm:prSet/>
      <dgm:spPr/>
      <dgm:t>
        <a:bodyPr/>
        <a:lstStyle/>
        <a:p>
          <a:endParaRPr lang="en-US"/>
        </a:p>
      </dgm:t>
    </dgm:pt>
    <dgm:pt modelId="{3099E075-9EDE-4AD4-AF4A-2C5A91974C7F}" type="sibTrans" cxnId="{7026C784-2ECF-41E7-A724-AFA8D4B864C6}">
      <dgm:prSet/>
      <dgm:spPr/>
      <dgm:t>
        <a:bodyPr/>
        <a:lstStyle/>
        <a:p>
          <a:endParaRPr lang="en-US"/>
        </a:p>
      </dgm:t>
    </dgm:pt>
    <dgm:pt modelId="{04D88F13-A019-431B-ABA9-5A45FB9F9819}">
      <dgm:prSet phldrT="[Text]" custT="1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  <dgm:t>
        <a:bodyPr/>
        <a:lstStyle/>
        <a:p>
          <a:r>
            <a: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Voice Output (Sinhala/English)</a:t>
          </a:r>
        </a:p>
      </dgm:t>
    </dgm:pt>
    <dgm:pt modelId="{1882D7E8-020E-44B4-AB16-0FE56591741B}" type="parTrans" cxnId="{5020722C-B6F5-4DC6-A69D-5A2896185D6F}">
      <dgm:prSet/>
      <dgm:spPr/>
      <dgm:t>
        <a:bodyPr/>
        <a:lstStyle/>
        <a:p>
          <a:endParaRPr lang="en-US"/>
        </a:p>
      </dgm:t>
    </dgm:pt>
    <dgm:pt modelId="{D0EDAC69-CF95-4DA3-9D0D-5C51AAF1E330}" type="sibTrans" cxnId="{5020722C-B6F5-4DC6-A69D-5A2896185D6F}">
      <dgm:prSet/>
      <dgm:spPr/>
      <dgm:t>
        <a:bodyPr/>
        <a:lstStyle/>
        <a:p>
          <a:endParaRPr lang="en-US"/>
        </a:p>
      </dgm:t>
    </dgm:pt>
    <dgm:pt modelId="{E1260514-3978-4EF0-B320-1C8FB92BDAB1}" type="pres">
      <dgm:prSet presAssocID="{FB5C0DE4-F34B-4231-84CE-B10EB0306152}" presName="rootnode" presStyleCnt="0">
        <dgm:presLayoutVars>
          <dgm:chMax/>
          <dgm:chPref/>
          <dgm:dir/>
          <dgm:animLvl val="lvl"/>
        </dgm:presLayoutVars>
      </dgm:prSet>
      <dgm:spPr/>
    </dgm:pt>
    <dgm:pt modelId="{F9DA1AF5-7758-4E78-ACE1-9203F93E0C64}" type="pres">
      <dgm:prSet presAssocID="{5BAA0796-42B4-409C-86D2-8ED142C31FAA}" presName="composite" presStyleCnt="0"/>
      <dgm:spPr/>
    </dgm:pt>
    <dgm:pt modelId="{15FA9B11-E368-42E1-8C54-EE1E63006358}" type="pres">
      <dgm:prSet presAssocID="{5BAA0796-42B4-409C-86D2-8ED142C31FAA}" presName="bentUpArrow1" presStyleLbl="alignImgPlace1" presStyleIdx="0" presStyleCnt="6" custLinFactX="-58674" custLinFactY="-5285" custLinFactNeighborX="-100000" custLinFactNeighborY="-100000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5858D71F-ECF1-4B3E-A767-C0FCD91DE7EC}" type="pres">
      <dgm:prSet presAssocID="{5BAA0796-42B4-409C-86D2-8ED142C31FAA}" presName="ParentText" presStyleLbl="node1" presStyleIdx="0" presStyleCnt="7" custScaleX="400376" custLinFactY="-4686" custLinFactNeighborX="892" custLinFactNeighborY="-100000">
        <dgm:presLayoutVars>
          <dgm:chMax val="1"/>
          <dgm:chPref val="1"/>
          <dgm:bulletEnabled val="1"/>
        </dgm:presLayoutVars>
      </dgm:prSet>
      <dgm:spPr/>
    </dgm:pt>
    <dgm:pt modelId="{57FA1839-547C-4B3E-9AE4-68D1279EE88C}" type="pres">
      <dgm:prSet presAssocID="{5BAA0796-42B4-409C-86D2-8ED142C31FAA}" presName="Child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C149EA97-91C8-42BC-B931-3F81E3485B1D}" type="pres">
      <dgm:prSet presAssocID="{12ABE826-D3AE-44DD-83C8-526E00494523}" presName="sibTrans" presStyleCnt="0"/>
      <dgm:spPr/>
    </dgm:pt>
    <dgm:pt modelId="{F3ED3A08-F837-45BB-AC06-AE75A42E0A5D}" type="pres">
      <dgm:prSet presAssocID="{AA97A3B7-BC00-42D6-8697-BBC400E7A56F}" presName="composite" presStyleCnt="0"/>
      <dgm:spPr/>
    </dgm:pt>
    <dgm:pt modelId="{F9C7C50C-7AEC-4C39-AF93-0976072E3D06}" type="pres">
      <dgm:prSet presAssocID="{AA97A3B7-BC00-42D6-8697-BBC400E7A56F}" presName="bentUpArrow1" presStyleLbl="alignImgPlace1" presStyleIdx="1" presStyleCnt="6" custLinFactX="-100000" custLinFactNeighborX="-113800" custLinFactNeighborY="-83299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886076FA-DB80-436D-8255-142FB0897052}" type="pres">
      <dgm:prSet presAssocID="{AA97A3B7-BC00-42D6-8697-BBC400E7A56F}" presName="ParentText" presStyleLbl="node1" presStyleIdx="1" presStyleCnt="7" custScaleX="350419" custLinFactNeighborX="-64830" custLinFactNeighborY="-85189">
        <dgm:presLayoutVars>
          <dgm:chMax val="1"/>
          <dgm:chPref val="1"/>
          <dgm:bulletEnabled val="1"/>
        </dgm:presLayoutVars>
      </dgm:prSet>
      <dgm:spPr/>
    </dgm:pt>
    <dgm:pt modelId="{C54945E6-69FC-4580-B94E-A3632E9CDA3F}" type="pres">
      <dgm:prSet presAssocID="{AA97A3B7-BC00-42D6-8697-BBC400E7A56F}" presName="Child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15219225-34E2-4780-9AA0-B38BE8B5B323}" type="pres">
      <dgm:prSet presAssocID="{E4CF63DC-1821-407B-BBFE-5EF4D1C29715}" presName="sibTrans" presStyleCnt="0"/>
      <dgm:spPr/>
    </dgm:pt>
    <dgm:pt modelId="{DA1C6D28-54BB-45C9-B8CC-DBD6DFA994EA}" type="pres">
      <dgm:prSet presAssocID="{74F50C7A-C549-4D63-8CED-00116045BE79}" presName="composite" presStyleCnt="0"/>
      <dgm:spPr/>
    </dgm:pt>
    <dgm:pt modelId="{2AF2F6F9-9A37-4A02-85FA-EF129B918914}" type="pres">
      <dgm:prSet presAssocID="{74F50C7A-C549-4D63-8CED-00116045BE79}" presName="bentUpArrow1" presStyleLbl="alignImgPlace1" presStyleIdx="2" presStyleCnt="6" custScaleX="95608" custLinFactX="-111565" custLinFactNeighborX="-200000" custLinFactNeighborY="-55346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CFF6A649-8D3B-43A8-9F22-68F5C03A31E1}" type="pres">
      <dgm:prSet presAssocID="{74F50C7A-C549-4D63-8CED-00116045BE79}" presName="ParentText" presStyleLbl="node1" presStyleIdx="2" presStyleCnt="7" custScaleX="453402" custScaleY="140715" custLinFactX="-24441" custLinFactNeighborX="-100000" custLinFactNeighborY="-74502">
        <dgm:presLayoutVars>
          <dgm:chMax val="1"/>
          <dgm:chPref val="1"/>
          <dgm:bulletEnabled val="1"/>
        </dgm:presLayoutVars>
      </dgm:prSet>
      <dgm:spPr/>
    </dgm:pt>
    <dgm:pt modelId="{52C8B57D-33FB-407B-93FE-E2AD450866BB}" type="pres">
      <dgm:prSet presAssocID="{74F50C7A-C549-4D63-8CED-00116045BE79}" presName="Child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7D0CE3C2-E0DF-41B9-8DCD-50B026B597A7}" type="pres">
      <dgm:prSet presAssocID="{B646EB32-53C4-46A6-81FE-8F7EE42F4F92}" presName="sibTrans" presStyleCnt="0"/>
      <dgm:spPr/>
    </dgm:pt>
    <dgm:pt modelId="{C0E6D223-8489-41D0-B8E3-E531DEAF44C4}" type="pres">
      <dgm:prSet presAssocID="{FF825C51-4DCE-4A48-BDB6-A5E48743756C}" presName="composite" presStyleCnt="0"/>
      <dgm:spPr/>
    </dgm:pt>
    <dgm:pt modelId="{4EEEE676-0B86-473A-91E0-E78A7B9527EB}" type="pres">
      <dgm:prSet presAssocID="{FF825C51-4DCE-4A48-BDB6-A5E48743756C}" presName="bentUpArrow1" presStyleLbl="alignImgPlace1" presStyleIdx="3" presStyleCnt="6" custLinFactX="-200000" custLinFactNeighborX="-258282" custLinFactNeighborY="-12402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50F51E03-D0B8-4B0C-8D56-F01B1058D64F}" type="pres">
      <dgm:prSet presAssocID="{FF825C51-4DCE-4A48-BDB6-A5E48743756C}" presName="ParentText" presStyleLbl="node1" presStyleIdx="3" presStyleCnt="7" custScaleX="612468" custScaleY="123332" custLinFactX="-41063" custLinFactNeighborX="-100000" custLinFactNeighborY="-41949">
        <dgm:presLayoutVars>
          <dgm:chMax val="1"/>
          <dgm:chPref val="1"/>
          <dgm:bulletEnabled val="1"/>
        </dgm:presLayoutVars>
      </dgm:prSet>
      <dgm:spPr/>
    </dgm:pt>
    <dgm:pt modelId="{B3567B77-902F-4F4C-917C-7B4D715EDAC4}" type="pres">
      <dgm:prSet presAssocID="{FF825C51-4DCE-4A48-BDB6-A5E48743756C}" presName="Child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5CE632B-0BE2-4FAD-9207-6CF74D595DFC}" type="pres">
      <dgm:prSet presAssocID="{32FD0A79-D9AF-4868-9C9A-FE7E633EB897}" presName="sibTrans" presStyleCnt="0"/>
      <dgm:spPr/>
    </dgm:pt>
    <dgm:pt modelId="{445CC449-E794-463D-97EB-729215C472DF}" type="pres">
      <dgm:prSet presAssocID="{40E549C8-6695-4C19-82C8-5FC9958BD564}" presName="composite" presStyleCnt="0"/>
      <dgm:spPr/>
    </dgm:pt>
    <dgm:pt modelId="{F0E2454D-61BA-4E63-8F8B-214B7F4DE776}" type="pres">
      <dgm:prSet presAssocID="{40E549C8-6695-4C19-82C8-5FC9958BD564}" presName="bentUpArrow1" presStyleLbl="alignImgPlace1" presStyleIdx="4" presStyleCnt="6" custLinFactX="-130572" custLinFactNeighborX="-200000" custLinFactNeighborY="10786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967C698D-D394-43EB-9A46-D31A11803EE7}" type="pres">
      <dgm:prSet presAssocID="{40E549C8-6695-4C19-82C8-5FC9958BD564}" presName="ParentText" presStyleLbl="node1" presStyleIdx="4" presStyleCnt="7" custScaleX="450648" custScaleY="105171" custLinFactX="-53305" custLinFactNeighborX="-100000" custLinFactNeighborY="-9160">
        <dgm:presLayoutVars>
          <dgm:chMax val="1"/>
          <dgm:chPref val="1"/>
          <dgm:bulletEnabled val="1"/>
        </dgm:presLayoutVars>
      </dgm:prSet>
      <dgm:spPr/>
    </dgm:pt>
    <dgm:pt modelId="{4EC1EFB2-B72C-4671-96FC-3C6B5ED6C7AE}" type="pres">
      <dgm:prSet presAssocID="{40E549C8-6695-4C19-82C8-5FC9958BD564}" presName="Child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608C489C-E8E2-4BBD-871F-3E5289EDF990}" type="pres">
      <dgm:prSet presAssocID="{8EA2FFD0-DC79-4547-AB0A-58D201D44E2B}" presName="sibTrans" presStyleCnt="0"/>
      <dgm:spPr/>
    </dgm:pt>
    <dgm:pt modelId="{C252DF6F-DAF2-4EA8-A4DC-8133CB253982}" type="pres">
      <dgm:prSet presAssocID="{49737B01-A4F7-4DE4-9CD1-C80EF6512793}" presName="composite" presStyleCnt="0"/>
      <dgm:spPr/>
    </dgm:pt>
    <dgm:pt modelId="{DD50FD61-9B67-49BF-A1BA-ACD307A9046C}" type="pres">
      <dgm:prSet presAssocID="{49737B01-A4F7-4DE4-9CD1-C80EF6512793}" presName="bentUpArrow1" presStyleLbl="alignImgPlace1" presStyleIdx="5" presStyleCnt="6" custLinFactX="-129350" custLinFactNeighborX="-200000" custLinFactNeighborY="22514"/>
      <dgm:sp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solidFill>
            <a:schemeClr val="tx1"/>
          </a:solidFill>
        </a:ln>
      </dgm:spPr>
    </dgm:pt>
    <dgm:pt modelId="{E8A7BCE8-4D9D-416D-B168-52EBB06C7A8C}" type="pres">
      <dgm:prSet presAssocID="{49737B01-A4F7-4DE4-9CD1-C80EF6512793}" presName="ParentText" presStyleLbl="node1" presStyleIdx="5" presStyleCnt="7" custScaleX="379929" custLinFactX="-57570" custLinFactNeighborX="-100000" custLinFactNeighborY="2673">
        <dgm:presLayoutVars>
          <dgm:chMax val="1"/>
          <dgm:chPref val="1"/>
          <dgm:bulletEnabled val="1"/>
        </dgm:presLayoutVars>
      </dgm:prSet>
      <dgm:spPr/>
    </dgm:pt>
    <dgm:pt modelId="{133CBE8D-309A-4278-85D8-D80C34717AAF}" type="pres">
      <dgm:prSet presAssocID="{49737B01-A4F7-4DE4-9CD1-C80EF6512793}" presName="ChildText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3FB0681C-587E-4D24-9F77-0842A771BDF0}" type="pres">
      <dgm:prSet presAssocID="{3099E075-9EDE-4AD4-AF4A-2C5A91974C7F}" presName="sibTrans" presStyleCnt="0"/>
      <dgm:spPr/>
    </dgm:pt>
    <dgm:pt modelId="{C56F5685-CBA9-4C40-97EB-307ACA36237B}" type="pres">
      <dgm:prSet presAssocID="{04D88F13-A019-431B-ABA9-5A45FB9F9819}" presName="composite" presStyleCnt="0"/>
      <dgm:spPr/>
    </dgm:pt>
    <dgm:pt modelId="{5191666B-846C-4D02-AA6B-064D10193A26}" type="pres">
      <dgm:prSet presAssocID="{04D88F13-A019-431B-ABA9-5A45FB9F9819}" presName="ParentText" presStyleLbl="node1" presStyleIdx="6" presStyleCnt="7" custScaleX="355628" custLinFactX="-89672" custLinFactNeighborX="-100000" custLinFactNeighborY="11294">
        <dgm:presLayoutVars>
          <dgm:chMax val="1"/>
          <dgm:chPref val="1"/>
          <dgm:bulletEnabled val="1"/>
        </dgm:presLayoutVars>
      </dgm:prSet>
      <dgm:spPr/>
    </dgm:pt>
  </dgm:ptLst>
  <dgm:cxnLst>
    <dgm:cxn modelId="{20E86201-2622-49B4-946B-7C2BD2F349B1}" type="presOf" srcId="{40E549C8-6695-4C19-82C8-5FC9958BD564}" destId="{967C698D-D394-43EB-9A46-D31A11803EE7}" srcOrd="0" destOrd="0" presId="urn:microsoft.com/office/officeart/2005/8/layout/StepDownProcess"/>
    <dgm:cxn modelId="{45E8A80B-9300-4788-8BE3-E815375B6567}" srcId="{FB5C0DE4-F34B-4231-84CE-B10EB0306152}" destId="{40E549C8-6695-4C19-82C8-5FC9958BD564}" srcOrd="4" destOrd="0" parTransId="{B7896706-13FE-48A9-9F50-477CB30DE505}" sibTransId="{8EA2FFD0-DC79-4547-AB0A-58D201D44E2B}"/>
    <dgm:cxn modelId="{7D2DCF16-72D6-4ED2-A6C5-8F24EEE2159B}" srcId="{FB5C0DE4-F34B-4231-84CE-B10EB0306152}" destId="{FF825C51-4DCE-4A48-BDB6-A5E48743756C}" srcOrd="3" destOrd="0" parTransId="{0F2CF7F4-A0F1-49AF-8DF6-8AAA7803A4D0}" sibTransId="{32FD0A79-D9AF-4868-9C9A-FE7E633EB897}"/>
    <dgm:cxn modelId="{1E23441C-2BD9-4582-B446-293558E2C58D}" type="presOf" srcId="{04D88F13-A019-431B-ABA9-5A45FB9F9819}" destId="{5191666B-846C-4D02-AA6B-064D10193A26}" srcOrd="0" destOrd="0" presId="urn:microsoft.com/office/officeart/2005/8/layout/StepDownProcess"/>
    <dgm:cxn modelId="{5020722C-B6F5-4DC6-A69D-5A2896185D6F}" srcId="{FB5C0DE4-F34B-4231-84CE-B10EB0306152}" destId="{04D88F13-A019-431B-ABA9-5A45FB9F9819}" srcOrd="6" destOrd="0" parTransId="{1882D7E8-020E-44B4-AB16-0FE56591741B}" sibTransId="{D0EDAC69-CF95-4DA3-9D0D-5C51AAF1E330}"/>
    <dgm:cxn modelId="{508B3F37-8935-4088-9DB0-5B03278AA8D0}" srcId="{FB5C0DE4-F34B-4231-84CE-B10EB0306152}" destId="{74F50C7A-C549-4D63-8CED-00116045BE79}" srcOrd="2" destOrd="0" parTransId="{85ECC04E-C4ED-4CFF-8A65-2D1F1F2B1922}" sibTransId="{B646EB32-53C4-46A6-81FE-8F7EE42F4F92}"/>
    <dgm:cxn modelId="{52F6C137-8AF1-4E76-AA54-D19F71539978}" srcId="{FB5C0DE4-F34B-4231-84CE-B10EB0306152}" destId="{5BAA0796-42B4-409C-86D2-8ED142C31FAA}" srcOrd="0" destOrd="0" parTransId="{F0092CCC-9C65-48ED-B5F1-E82EBD7F8935}" sibTransId="{12ABE826-D3AE-44DD-83C8-526E00494523}"/>
    <dgm:cxn modelId="{CC419E3A-D00A-48A4-9575-556F8AB3B596}" type="presOf" srcId="{AA97A3B7-BC00-42D6-8697-BBC400E7A56F}" destId="{886076FA-DB80-436D-8255-142FB0897052}" srcOrd="0" destOrd="0" presId="urn:microsoft.com/office/officeart/2005/8/layout/StepDownProcess"/>
    <dgm:cxn modelId="{7F3D695B-7EC2-4F78-BAEF-DC3686D28A09}" type="presOf" srcId="{FF825C51-4DCE-4A48-BDB6-A5E48743756C}" destId="{50F51E03-D0B8-4B0C-8D56-F01B1058D64F}" srcOrd="0" destOrd="0" presId="urn:microsoft.com/office/officeart/2005/8/layout/StepDownProcess"/>
    <dgm:cxn modelId="{5D6BAE56-1A9C-4213-B793-6BBF1A03B0FB}" srcId="{FB5C0DE4-F34B-4231-84CE-B10EB0306152}" destId="{AA97A3B7-BC00-42D6-8697-BBC400E7A56F}" srcOrd="1" destOrd="0" parTransId="{02C678C3-7EAB-4D62-B299-17ECF1598FE4}" sibTransId="{E4CF63DC-1821-407B-BBFE-5EF4D1C29715}"/>
    <dgm:cxn modelId="{FEB8267B-6540-4FE7-9D4B-7C9AB9249EFD}" type="presOf" srcId="{5BAA0796-42B4-409C-86D2-8ED142C31FAA}" destId="{5858D71F-ECF1-4B3E-A767-C0FCD91DE7EC}" srcOrd="0" destOrd="0" presId="urn:microsoft.com/office/officeart/2005/8/layout/StepDownProcess"/>
    <dgm:cxn modelId="{7026C784-2ECF-41E7-A724-AFA8D4B864C6}" srcId="{FB5C0DE4-F34B-4231-84CE-B10EB0306152}" destId="{49737B01-A4F7-4DE4-9CD1-C80EF6512793}" srcOrd="5" destOrd="0" parTransId="{574ED89D-F962-4FA0-BE17-E05F487D175E}" sibTransId="{3099E075-9EDE-4AD4-AF4A-2C5A91974C7F}"/>
    <dgm:cxn modelId="{84F942A1-13B7-487D-A9DB-156FFC43E749}" type="presOf" srcId="{FB5C0DE4-F34B-4231-84CE-B10EB0306152}" destId="{E1260514-3978-4EF0-B320-1C8FB92BDAB1}" srcOrd="0" destOrd="0" presId="urn:microsoft.com/office/officeart/2005/8/layout/StepDownProcess"/>
    <dgm:cxn modelId="{560848D7-570E-4B05-BF60-0110C4385CCA}" type="presOf" srcId="{49737B01-A4F7-4DE4-9CD1-C80EF6512793}" destId="{E8A7BCE8-4D9D-416D-B168-52EBB06C7A8C}" srcOrd="0" destOrd="0" presId="urn:microsoft.com/office/officeart/2005/8/layout/StepDownProcess"/>
    <dgm:cxn modelId="{C15C72F6-093B-4C48-85C8-93CB6FB92AA8}" type="presOf" srcId="{74F50C7A-C549-4D63-8CED-00116045BE79}" destId="{CFF6A649-8D3B-43A8-9F22-68F5C03A31E1}" srcOrd="0" destOrd="0" presId="urn:microsoft.com/office/officeart/2005/8/layout/StepDownProcess"/>
    <dgm:cxn modelId="{9DB0CF1B-D36E-4BB4-A8BA-40422D1FE0A5}" type="presParOf" srcId="{E1260514-3978-4EF0-B320-1C8FB92BDAB1}" destId="{F9DA1AF5-7758-4E78-ACE1-9203F93E0C64}" srcOrd="0" destOrd="0" presId="urn:microsoft.com/office/officeart/2005/8/layout/StepDownProcess"/>
    <dgm:cxn modelId="{79E7F1B3-0B3D-40EF-B15C-A8DA8538F96D}" type="presParOf" srcId="{F9DA1AF5-7758-4E78-ACE1-9203F93E0C64}" destId="{15FA9B11-E368-42E1-8C54-EE1E63006358}" srcOrd="0" destOrd="0" presId="urn:microsoft.com/office/officeart/2005/8/layout/StepDownProcess"/>
    <dgm:cxn modelId="{52623706-603C-4158-9FEE-A8ECB67C2223}" type="presParOf" srcId="{F9DA1AF5-7758-4E78-ACE1-9203F93E0C64}" destId="{5858D71F-ECF1-4B3E-A767-C0FCD91DE7EC}" srcOrd="1" destOrd="0" presId="urn:microsoft.com/office/officeart/2005/8/layout/StepDownProcess"/>
    <dgm:cxn modelId="{ABE682DE-5E5C-40CE-A8A7-267F20759820}" type="presParOf" srcId="{F9DA1AF5-7758-4E78-ACE1-9203F93E0C64}" destId="{57FA1839-547C-4B3E-9AE4-68D1279EE88C}" srcOrd="2" destOrd="0" presId="urn:microsoft.com/office/officeart/2005/8/layout/StepDownProcess"/>
    <dgm:cxn modelId="{477C7DE8-B5E2-40A9-A09C-58C972788BE2}" type="presParOf" srcId="{E1260514-3978-4EF0-B320-1C8FB92BDAB1}" destId="{C149EA97-91C8-42BC-B931-3F81E3485B1D}" srcOrd="1" destOrd="0" presId="urn:microsoft.com/office/officeart/2005/8/layout/StepDownProcess"/>
    <dgm:cxn modelId="{35D64C12-AFA6-4671-86B9-2194382CE263}" type="presParOf" srcId="{E1260514-3978-4EF0-B320-1C8FB92BDAB1}" destId="{F3ED3A08-F837-45BB-AC06-AE75A42E0A5D}" srcOrd="2" destOrd="0" presId="urn:microsoft.com/office/officeart/2005/8/layout/StepDownProcess"/>
    <dgm:cxn modelId="{54DD4E0F-9AD5-4B43-BE02-53C98E8CE22A}" type="presParOf" srcId="{F3ED3A08-F837-45BB-AC06-AE75A42E0A5D}" destId="{F9C7C50C-7AEC-4C39-AF93-0976072E3D06}" srcOrd="0" destOrd="0" presId="urn:microsoft.com/office/officeart/2005/8/layout/StepDownProcess"/>
    <dgm:cxn modelId="{EF6BB0DB-B541-493E-8BAD-396D8E5B7E77}" type="presParOf" srcId="{F3ED3A08-F837-45BB-AC06-AE75A42E0A5D}" destId="{886076FA-DB80-436D-8255-142FB0897052}" srcOrd="1" destOrd="0" presId="urn:microsoft.com/office/officeart/2005/8/layout/StepDownProcess"/>
    <dgm:cxn modelId="{466A42F1-34B1-440C-8A4F-9C96E6130329}" type="presParOf" srcId="{F3ED3A08-F837-45BB-AC06-AE75A42E0A5D}" destId="{C54945E6-69FC-4580-B94E-A3632E9CDA3F}" srcOrd="2" destOrd="0" presId="urn:microsoft.com/office/officeart/2005/8/layout/StepDownProcess"/>
    <dgm:cxn modelId="{33277FEE-8D9C-4905-AEEE-E9182D07F557}" type="presParOf" srcId="{E1260514-3978-4EF0-B320-1C8FB92BDAB1}" destId="{15219225-34E2-4780-9AA0-B38BE8B5B323}" srcOrd="3" destOrd="0" presId="urn:microsoft.com/office/officeart/2005/8/layout/StepDownProcess"/>
    <dgm:cxn modelId="{D267EAEB-4B7E-4C83-9690-1602936BB489}" type="presParOf" srcId="{E1260514-3978-4EF0-B320-1C8FB92BDAB1}" destId="{DA1C6D28-54BB-45C9-B8CC-DBD6DFA994EA}" srcOrd="4" destOrd="0" presId="urn:microsoft.com/office/officeart/2005/8/layout/StepDownProcess"/>
    <dgm:cxn modelId="{D2517D59-AF7A-4C58-92A3-A22F3D102833}" type="presParOf" srcId="{DA1C6D28-54BB-45C9-B8CC-DBD6DFA994EA}" destId="{2AF2F6F9-9A37-4A02-85FA-EF129B918914}" srcOrd="0" destOrd="0" presId="urn:microsoft.com/office/officeart/2005/8/layout/StepDownProcess"/>
    <dgm:cxn modelId="{C4637868-8C92-42C9-88D9-EC6847C2B0B0}" type="presParOf" srcId="{DA1C6D28-54BB-45C9-B8CC-DBD6DFA994EA}" destId="{CFF6A649-8D3B-43A8-9F22-68F5C03A31E1}" srcOrd="1" destOrd="0" presId="urn:microsoft.com/office/officeart/2005/8/layout/StepDownProcess"/>
    <dgm:cxn modelId="{03889669-B1B6-4417-AC15-750B26B04B9A}" type="presParOf" srcId="{DA1C6D28-54BB-45C9-B8CC-DBD6DFA994EA}" destId="{52C8B57D-33FB-407B-93FE-E2AD450866BB}" srcOrd="2" destOrd="0" presId="urn:microsoft.com/office/officeart/2005/8/layout/StepDownProcess"/>
    <dgm:cxn modelId="{DC87ED57-3068-4651-8473-F5DE0621A9F4}" type="presParOf" srcId="{E1260514-3978-4EF0-B320-1C8FB92BDAB1}" destId="{7D0CE3C2-E0DF-41B9-8DCD-50B026B597A7}" srcOrd="5" destOrd="0" presId="urn:microsoft.com/office/officeart/2005/8/layout/StepDownProcess"/>
    <dgm:cxn modelId="{C21BE95E-1E4C-48BA-B2D8-EBFFB1D183B5}" type="presParOf" srcId="{E1260514-3978-4EF0-B320-1C8FB92BDAB1}" destId="{C0E6D223-8489-41D0-B8E3-E531DEAF44C4}" srcOrd="6" destOrd="0" presId="urn:microsoft.com/office/officeart/2005/8/layout/StepDownProcess"/>
    <dgm:cxn modelId="{C4CF64B0-635F-40B2-B182-581B442607EC}" type="presParOf" srcId="{C0E6D223-8489-41D0-B8E3-E531DEAF44C4}" destId="{4EEEE676-0B86-473A-91E0-E78A7B9527EB}" srcOrd="0" destOrd="0" presId="urn:microsoft.com/office/officeart/2005/8/layout/StepDownProcess"/>
    <dgm:cxn modelId="{D457A637-EB95-4CE9-B984-42D7F5EE0F6E}" type="presParOf" srcId="{C0E6D223-8489-41D0-B8E3-E531DEAF44C4}" destId="{50F51E03-D0B8-4B0C-8D56-F01B1058D64F}" srcOrd="1" destOrd="0" presId="urn:microsoft.com/office/officeart/2005/8/layout/StepDownProcess"/>
    <dgm:cxn modelId="{328FA900-95BB-47C8-BE40-5DEE09B5274C}" type="presParOf" srcId="{C0E6D223-8489-41D0-B8E3-E531DEAF44C4}" destId="{B3567B77-902F-4F4C-917C-7B4D715EDAC4}" srcOrd="2" destOrd="0" presId="urn:microsoft.com/office/officeart/2005/8/layout/StepDownProcess"/>
    <dgm:cxn modelId="{E228430B-68B5-4C3C-B503-C83049E8EDA9}" type="presParOf" srcId="{E1260514-3978-4EF0-B320-1C8FB92BDAB1}" destId="{45CE632B-0BE2-4FAD-9207-6CF74D595DFC}" srcOrd="7" destOrd="0" presId="urn:microsoft.com/office/officeart/2005/8/layout/StepDownProcess"/>
    <dgm:cxn modelId="{9B2B203E-A241-430C-A00A-222A791496C4}" type="presParOf" srcId="{E1260514-3978-4EF0-B320-1C8FB92BDAB1}" destId="{445CC449-E794-463D-97EB-729215C472DF}" srcOrd="8" destOrd="0" presId="urn:microsoft.com/office/officeart/2005/8/layout/StepDownProcess"/>
    <dgm:cxn modelId="{5CD48899-B8DF-4C21-A7BE-77C61BE6091E}" type="presParOf" srcId="{445CC449-E794-463D-97EB-729215C472DF}" destId="{F0E2454D-61BA-4E63-8F8B-214B7F4DE776}" srcOrd="0" destOrd="0" presId="urn:microsoft.com/office/officeart/2005/8/layout/StepDownProcess"/>
    <dgm:cxn modelId="{6535AA44-7088-4199-AF1B-F4E74E09F24A}" type="presParOf" srcId="{445CC449-E794-463D-97EB-729215C472DF}" destId="{967C698D-D394-43EB-9A46-D31A11803EE7}" srcOrd="1" destOrd="0" presId="urn:microsoft.com/office/officeart/2005/8/layout/StepDownProcess"/>
    <dgm:cxn modelId="{EC9370AE-3FC6-4DF4-9071-47200A206477}" type="presParOf" srcId="{445CC449-E794-463D-97EB-729215C472DF}" destId="{4EC1EFB2-B72C-4671-96FC-3C6B5ED6C7AE}" srcOrd="2" destOrd="0" presId="urn:microsoft.com/office/officeart/2005/8/layout/StepDownProcess"/>
    <dgm:cxn modelId="{D7026D52-456B-4CE9-90EE-FA99E85F03EF}" type="presParOf" srcId="{E1260514-3978-4EF0-B320-1C8FB92BDAB1}" destId="{608C489C-E8E2-4BBD-871F-3E5289EDF990}" srcOrd="9" destOrd="0" presId="urn:microsoft.com/office/officeart/2005/8/layout/StepDownProcess"/>
    <dgm:cxn modelId="{A9CD7839-0B76-485B-8A89-CCF0EFEE3C70}" type="presParOf" srcId="{E1260514-3978-4EF0-B320-1C8FB92BDAB1}" destId="{C252DF6F-DAF2-4EA8-A4DC-8133CB253982}" srcOrd="10" destOrd="0" presId="urn:microsoft.com/office/officeart/2005/8/layout/StepDownProcess"/>
    <dgm:cxn modelId="{3CFACB0D-8D13-4745-817E-1A8CE39CBB3C}" type="presParOf" srcId="{C252DF6F-DAF2-4EA8-A4DC-8133CB253982}" destId="{DD50FD61-9B67-49BF-A1BA-ACD307A9046C}" srcOrd="0" destOrd="0" presId="urn:microsoft.com/office/officeart/2005/8/layout/StepDownProcess"/>
    <dgm:cxn modelId="{E996BB7F-07B9-422B-A18B-6F803FD7375D}" type="presParOf" srcId="{C252DF6F-DAF2-4EA8-A4DC-8133CB253982}" destId="{E8A7BCE8-4D9D-416D-B168-52EBB06C7A8C}" srcOrd="1" destOrd="0" presId="urn:microsoft.com/office/officeart/2005/8/layout/StepDownProcess"/>
    <dgm:cxn modelId="{02FA31AE-7660-4F3C-A9BF-EEA7B8A01723}" type="presParOf" srcId="{C252DF6F-DAF2-4EA8-A4DC-8133CB253982}" destId="{133CBE8D-309A-4278-85D8-D80C34717AAF}" srcOrd="2" destOrd="0" presId="urn:microsoft.com/office/officeart/2005/8/layout/StepDownProcess"/>
    <dgm:cxn modelId="{60D1F87D-1E97-4981-B94F-3FD7817910E5}" type="presParOf" srcId="{E1260514-3978-4EF0-B320-1C8FB92BDAB1}" destId="{3FB0681C-587E-4D24-9F77-0842A771BDF0}" srcOrd="11" destOrd="0" presId="urn:microsoft.com/office/officeart/2005/8/layout/StepDownProcess"/>
    <dgm:cxn modelId="{BF0C80A4-040C-40B1-B1EA-732328CF514B}" type="presParOf" srcId="{E1260514-3978-4EF0-B320-1C8FB92BDAB1}" destId="{C56F5685-CBA9-4C40-97EB-307ACA36237B}" srcOrd="12" destOrd="0" presId="urn:microsoft.com/office/officeart/2005/8/layout/StepDownProcess"/>
    <dgm:cxn modelId="{E80DD4EB-754B-497E-9244-B7CA6CA77556}" type="presParOf" srcId="{C56F5685-CBA9-4C40-97EB-307ACA36237B}" destId="{5191666B-846C-4D02-AA6B-064D10193A26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A9B11-E368-42E1-8C54-EE1E63006358}">
      <dsp:nvSpPr>
        <dsp:cNvPr id="0" name=""/>
        <dsp:cNvSpPr/>
      </dsp:nvSpPr>
      <dsp:spPr>
        <a:xfrm rot="5400000">
          <a:off x="439935" y="740106"/>
          <a:ext cx="439900" cy="5008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58D71F-ECF1-4B3E-A767-C0FCD91DE7EC}">
      <dsp:nvSpPr>
        <dsp:cNvPr id="0" name=""/>
        <dsp:cNvSpPr/>
      </dsp:nvSpPr>
      <dsp:spPr>
        <a:xfrm>
          <a:off x="12458" y="172977"/>
          <a:ext cx="2964919" cy="51834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Input Video (Live/Broadcast)-(Webcam)</a:t>
          </a:r>
        </a:p>
      </dsp:txBody>
      <dsp:txXfrm>
        <a:off x="37766" y="198285"/>
        <a:ext cx="2914303" cy="467733"/>
      </dsp:txXfrm>
    </dsp:sp>
    <dsp:sp modelId="{57FA1839-547C-4B3E-9AE4-68D1279EE88C}">
      <dsp:nvSpPr>
        <dsp:cNvPr id="0" name=""/>
        <dsp:cNvSpPr/>
      </dsp:nvSpPr>
      <dsp:spPr>
        <a:xfrm>
          <a:off x="1858579" y="765053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C7C50C-7AEC-4C39-AF93-0976072E3D06}">
      <dsp:nvSpPr>
        <dsp:cNvPr id="0" name=""/>
        <dsp:cNvSpPr/>
      </dsp:nvSpPr>
      <dsp:spPr>
        <a:xfrm rot="5400000">
          <a:off x="1402044" y="1419100"/>
          <a:ext cx="439900" cy="5008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6076FA-DB80-436D-8255-142FB0897052}">
      <dsp:nvSpPr>
        <dsp:cNvPr id="0" name=""/>
        <dsp:cNvSpPr/>
      </dsp:nvSpPr>
      <dsp:spPr>
        <a:xfrm>
          <a:off x="948926" y="856318"/>
          <a:ext cx="2594971" cy="51834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ROI Detection-(OpenCV/YOLOv8)</a:t>
          </a:r>
        </a:p>
      </dsp:txBody>
      <dsp:txXfrm>
        <a:off x="974234" y="881626"/>
        <a:ext cx="2544355" cy="467733"/>
      </dsp:txXfrm>
    </dsp:sp>
    <dsp:sp modelId="{C54945E6-69FC-4580-B94E-A3632E9CDA3F}">
      <dsp:nvSpPr>
        <dsp:cNvPr id="0" name=""/>
        <dsp:cNvSpPr/>
      </dsp:nvSpPr>
      <dsp:spPr>
        <a:xfrm>
          <a:off x="3096766" y="1347331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F2F6F9-9A37-4A02-85FA-EF129B918914}">
      <dsp:nvSpPr>
        <dsp:cNvPr id="0" name=""/>
        <dsp:cNvSpPr/>
      </dsp:nvSpPr>
      <dsp:spPr>
        <a:xfrm rot="5400000">
          <a:off x="2716900" y="2240864"/>
          <a:ext cx="439900" cy="47881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F6A649-8D3B-43A8-9F22-68F5C03A31E1}">
      <dsp:nvSpPr>
        <dsp:cNvPr id="0" name=""/>
        <dsp:cNvSpPr/>
      </dsp:nvSpPr>
      <dsp:spPr>
        <a:xfrm>
          <a:off x="1930647" y="1493991"/>
          <a:ext cx="3357594" cy="72939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Feature Extraction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(Hand, Face, Pose)-(</a:t>
          </a:r>
          <a:r>
            <a:rPr lang="en-US" sz="1800" b="1" i="0" kern="1200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MediaPipe</a:t>
          </a:r>
          <a:r>
            <a:rPr lang="en-US" sz="1800" b="1" i="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1966260" y="1529604"/>
        <a:ext cx="3286368" cy="658169"/>
      </dsp:txXfrm>
    </dsp:sp>
    <dsp:sp modelId="{52C8B57D-33FB-407B-93FE-E2AD450866BB}">
      <dsp:nvSpPr>
        <dsp:cNvPr id="0" name=""/>
        <dsp:cNvSpPr/>
      </dsp:nvSpPr>
      <dsp:spPr>
        <a:xfrm>
          <a:off x="4901239" y="2035132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EEE676-0B86-473A-91E0-E78A7B9527EB}">
      <dsp:nvSpPr>
        <dsp:cNvPr id="0" name=""/>
        <dsp:cNvSpPr/>
      </dsp:nvSpPr>
      <dsp:spPr>
        <a:xfrm rot="5400000">
          <a:off x="3994254" y="3061526"/>
          <a:ext cx="439900" cy="5008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F51E03-D0B8-4B0C-8D56-F01B1058D64F}">
      <dsp:nvSpPr>
        <dsp:cNvPr id="0" name=""/>
        <dsp:cNvSpPr/>
      </dsp:nvSpPr>
      <dsp:spPr>
        <a:xfrm>
          <a:off x="3230717" y="2350530"/>
          <a:ext cx="4535532" cy="639290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Translation Model (Deep Learning Model)-(CNN+LSTM/TRANSFORMER)</a:t>
          </a:r>
        </a:p>
      </dsp:txBody>
      <dsp:txXfrm>
        <a:off x="3261930" y="2381743"/>
        <a:ext cx="4473106" cy="576864"/>
      </dsp:txXfrm>
    </dsp:sp>
    <dsp:sp modelId="{B3567B77-902F-4F4C-917C-7B4D715EDAC4}">
      <dsp:nvSpPr>
        <dsp:cNvPr id="0" name=""/>
        <dsp:cNvSpPr/>
      </dsp:nvSpPr>
      <dsp:spPr>
        <a:xfrm>
          <a:off x="6913369" y="2677880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2454D-61BA-4E63-8F8B-214B7F4DE776}">
      <dsp:nvSpPr>
        <dsp:cNvPr id="0" name=""/>
        <dsp:cNvSpPr/>
      </dsp:nvSpPr>
      <dsp:spPr>
        <a:xfrm rot="5400000">
          <a:off x="5457836" y="3759210"/>
          <a:ext cx="439900" cy="5008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7C698D-D394-43EB-9A46-D31A11803EE7}">
      <dsp:nvSpPr>
        <dsp:cNvPr id="0" name=""/>
        <dsp:cNvSpPr/>
      </dsp:nvSpPr>
      <dsp:spPr>
        <a:xfrm>
          <a:off x="4563222" y="3163240"/>
          <a:ext cx="3337200" cy="545153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 Output </a:t>
          </a:r>
        </a:p>
      </dsp:txBody>
      <dsp:txXfrm>
        <a:off x="4589839" y="3189857"/>
        <a:ext cx="3283966" cy="491919"/>
      </dsp:txXfrm>
    </dsp:sp>
    <dsp:sp modelId="{4EC1EFB2-B72C-4671-96FC-3C6B5ED6C7AE}">
      <dsp:nvSpPr>
        <dsp:cNvPr id="0" name=""/>
        <dsp:cNvSpPr/>
      </dsp:nvSpPr>
      <dsp:spPr>
        <a:xfrm>
          <a:off x="7737365" y="3273560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0FD61-9B67-49BF-A1BA-ACD307A9046C}">
      <dsp:nvSpPr>
        <dsp:cNvPr id="0" name=""/>
        <dsp:cNvSpPr/>
      </dsp:nvSpPr>
      <dsp:spPr>
        <a:xfrm rot="5400000">
          <a:off x="6625268" y="4393079"/>
          <a:ext cx="439900" cy="5008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7BCE8-4D9D-416D-B168-52EBB06C7A8C}">
      <dsp:nvSpPr>
        <dsp:cNvPr id="0" name=""/>
        <dsp:cNvSpPr/>
      </dsp:nvSpPr>
      <dsp:spPr>
        <a:xfrm>
          <a:off x="5954800" y="3820256"/>
          <a:ext cx="2813502" cy="51834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Text To Speech (TTS) -(GTTS)</a:t>
          </a:r>
        </a:p>
      </dsp:txBody>
      <dsp:txXfrm>
        <a:off x="5980108" y="3845564"/>
        <a:ext cx="2762886" cy="467733"/>
      </dsp:txXfrm>
    </dsp:sp>
    <dsp:sp modelId="{133CBE8D-309A-4278-85D8-D80C34717AAF}">
      <dsp:nvSpPr>
        <dsp:cNvPr id="0" name=""/>
        <dsp:cNvSpPr/>
      </dsp:nvSpPr>
      <dsp:spPr>
        <a:xfrm>
          <a:off x="8898677" y="3855837"/>
          <a:ext cx="538593" cy="4189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91666B-846C-4D02-AA6B-064D10193A26}">
      <dsp:nvSpPr>
        <dsp:cNvPr id="0" name=""/>
        <dsp:cNvSpPr/>
      </dsp:nvSpPr>
      <dsp:spPr>
        <a:xfrm>
          <a:off x="7140235" y="4447221"/>
          <a:ext cx="2633545" cy="518349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Voice Output (Sinhala/English)</a:t>
          </a:r>
        </a:p>
      </dsp:txBody>
      <dsp:txXfrm>
        <a:off x="7165543" y="4472529"/>
        <a:ext cx="2582929" cy="4677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557CF-591B-4625-A1DE-5AFD5F4EDF4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8934C-29A9-4930-A197-D94C2DDA8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93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8934C-29A9-4930-A197-D94C2DDA85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536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8934C-29A9-4930-A197-D94C2DDA85F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3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C8934C-29A9-4930-A197-D94C2DDA85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7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5F5D-C487-4DB5-98EB-309FF87E2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324AB-30A3-49FA-9E6C-D8F297151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6A451-BA37-4609-9562-E651F2E74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D988A-7FF2-48C1-BB03-05A7E55393E6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E4A04-426C-4B58-8128-921A74F4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1CCF-0752-4857-AD45-EA894AA72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18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8E0E0-F527-428C-9B7E-9EF3B33A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37E3B-87AB-4A5A-B135-459CFDDB1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5A0F3-2239-4547-AC70-B3DE0779D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5B51F-136B-4C14-B782-1DC009F70A4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1BCAA-AF38-4906-93F3-03EE25212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C062-72FD-4498-9797-8E7189BA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06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3238-96CB-4D7E-962F-C4992E1A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613060-85C5-4CCA-A334-E01171F8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BA45D-F21F-49D0-B3F0-9E3E46A50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18B5E-6507-48C9-8A34-A2EEA9E26EEE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6659E-CA7C-4921-8660-AEC1665F1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EED55-31A9-470B-B3B1-19CDD067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77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82CA1-A2CE-44F5-8C16-3C23AE0A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8D0EA-2372-4ED2-AE98-4A6900596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03AF7C-EE3B-4CF8-B4C4-3FF5CF5844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8641B-DC8A-454D-ACD3-A6453B59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8D4E4-398A-4178-BF8C-2E6336DCBBE4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1347F-E8CA-4995-90D3-E3D5F3F0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F22F8-8231-4560-B9EA-18429F9B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95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923F2-81B0-4B76-B714-0F9255144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27998-BEB6-4649-AD04-6200045D4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49FDFB-2896-4520-95D8-28CD60786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9A5DA-3F9D-4A73-B497-2811729BE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42736-32D0-4625-A440-EB043E23F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DEEBAE-92C8-487D-BDE3-038FBB888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2179C-DA19-426F-8B56-F8B3198356CB}" type="datetime1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F49AA-3C39-4D6E-B669-547B866A1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D5DC9B-A93A-4AC9-B01A-D30E7689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05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3299C-EE6F-4977-ABD3-ADDB677E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F3EA07-780E-422C-BD8A-983825B0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417C8-AC9A-41C4-B880-C9DBCE3CF02D}" type="datetime1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EC1BE-9331-4486-B5D5-82597E9E5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8D8DD-E6C5-4BAC-BA3E-F7B069E4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471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7D0B5D-07CD-4952-9E8E-C09A5326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2E182-2DBF-45A8-8BDC-498251B3D7AB}" type="datetime1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43F6A-66BF-4B47-AF14-75BB52304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2D68B-2A99-4D38-85C5-60B7CB74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05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66331-0064-492E-B35B-062D9D56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2FE38-D325-4874-A3E2-604259B9E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AAA6C-FFA3-43E3-9A33-019C7F1C4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A045F-8F3E-456F-90A6-A417F4073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09DA7-B7D3-4A0F-AE08-740EC35B4CBE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EE249B-77C7-4D8C-9A1A-24758B53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07E6F-0EFD-4A59-B91D-05F920675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7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DE1F2-6DD1-450B-923C-5F61D348B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B788F0-6BAE-4DE5-9815-A35897EAB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3A771A-40B6-46B2-8E3B-1655BB183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D796E-4174-4A49-955F-8A129BEC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90DE3-F9E3-4782-A076-C265174DAFAB}" type="datetime1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4325F8-3323-43AC-94B5-339C5126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D9A62-4D49-4DA5-B7C1-96174DDA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32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FC3E6-48E3-4F0B-91E1-1D6E261C5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E759D-3F84-4411-AFD7-ACD7BABE3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C7A7D-C6DE-4C54-8A99-125329BAF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A23AF-9E08-4EFB-9ED8-B63E748E1FB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1DABB-1995-451B-9D1A-91E6A936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4E89-5B5C-4114-97A9-9E87E6EB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2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7F0F5E-A0D3-4CDC-B13E-A1C06E26EB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98B7AC-8A05-4C82-B06D-CA290912D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55F67-1283-40FC-9E70-853B85E9E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77D83-FA64-4D88-964C-3BC17E336130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1DB83-7912-4422-94CA-3D92070E0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A5EE-6180-4418-A0FC-33470F0E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F7AA-EB31-4DBF-A610-3C346EDEE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303DD-F1DA-42AB-BBCE-1A63F3CA4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5563-EAD7-4B8D-AE45-325A67747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42765-7E9C-4C6F-9F01-C1095DA40BFA}" type="datetime1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39C69-1359-4CB9-BD86-9923CAD93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B16A0-34CD-4E75-B938-A1D0AEE62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7AC3A-F283-4572-B36F-5839D46B1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4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494523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766A8-8E4D-4787-ABB8-EC4179273087}"/>
              </a:ext>
            </a:extLst>
          </p:cNvPr>
          <p:cNvSpPr txBox="1"/>
          <p:nvPr/>
        </p:nvSpPr>
        <p:spPr>
          <a:xfrm>
            <a:off x="1329055" y="972542"/>
            <a:ext cx="92106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Calisto MT" panose="02040603050505030304" pitchFamily="18" charset="0"/>
              </a:rPr>
              <a:t>Personalized Sign Language To Speech For Assistive Communication</a:t>
            </a:r>
            <a:endParaRPr lang="en-US" sz="5400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328BFD-DEFF-4C01-896C-7B53B9ADA400}"/>
              </a:ext>
            </a:extLst>
          </p:cNvPr>
          <p:cNvSpPr txBox="1"/>
          <p:nvPr/>
        </p:nvSpPr>
        <p:spPr>
          <a:xfrm>
            <a:off x="1857375" y="3706386"/>
            <a:ext cx="799147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Calisto MT" panose="02040603050505030304" pitchFamily="18" charset="0"/>
              </a:rPr>
              <a:t>     </a:t>
            </a:r>
            <a:r>
              <a:rPr lang="en-US" sz="2400" b="1" dirty="0">
                <a:latin typeface="Calisto MT" panose="02040603050505030304" pitchFamily="18" charset="0"/>
              </a:rPr>
              <a:t>SUPERVISOR          -  ENG  P. RAVIVARMAN</a:t>
            </a:r>
          </a:p>
          <a:p>
            <a:pPr algn="ctr"/>
            <a:r>
              <a:rPr lang="en-US" sz="2400" b="1" dirty="0">
                <a:latin typeface="Calisto MT" panose="02040603050505030304" pitchFamily="18" charset="0"/>
              </a:rPr>
              <a:t>CO-SUPERVISORS -  DR T.MUKUNTHAN</a:t>
            </a:r>
          </a:p>
          <a:p>
            <a:pPr algn="ctr"/>
            <a:endParaRPr lang="en-US" b="1" dirty="0">
              <a:latin typeface="Calisto MT" panose="02040603050505030304" pitchFamily="18" charset="0"/>
            </a:endParaRPr>
          </a:p>
          <a:p>
            <a:pPr algn="ctr"/>
            <a:endParaRPr lang="en-US" b="1" dirty="0">
              <a:latin typeface="Calisto MT" panose="02040603050505030304" pitchFamily="18" charset="0"/>
            </a:endParaRPr>
          </a:p>
          <a:p>
            <a:pPr algn="ctr"/>
            <a:r>
              <a:rPr lang="en-US" sz="1800" b="1" dirty="0">
                <a:latin typeface="Calisto MT" panose="02040603050505030304" pitchFamily="18" charset="0"/>
              </a:rPr>
              <a:t>2022/E/082                    LIYANAGE L.D.R.K.</a:t>
            </a:r>
          </a:p>
          <a:p>
            <a:pPr algn="ctr"/>
            <a:r>
              <a:rPr lang="en-US" sz="1800" b="1" dirty="0">
                <a:latin typeface="Calisto MT" panose="02040603050505030304" pitchFamily="18" charset="0"/>
              </a:rPr>
              <a:t>2022/E/175         WEERASEKARA W.M.S.G.</a:t>
            </a:r>
          </a:p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96DB5-C40E-4747-98CB-DBBE0D1AE20A}"/>
              </a:ext>
            </a:extLst>
          </p:cNvPr>
          <p:cNvSpPr txBox="1"/>
          <p:nvPr/>
        </p:nvSpPr>
        <p:spPr>
          <a:xfrm>
            <a:off x="419100" y="211077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And Electroni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Engineering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Project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Semester Presentation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5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38912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B4982C-071B-41C9-9DE3-2C7BD611DC5A}"/>
              </a:ext>
            </a:extLst>
          </p:cNvPr>
          <p:cNvSpPr txBox="1"/>
          <p:nvPr/>
        </p:nvSpPr>
        <p:spPr>
          <a:xfrm>
            <a:off x="741948" y="505144"/>
            <a:ext cx="61040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CD40D0C-0CFE-427D-B1A1-D3DD14D2483E}"/>
              </a:ext>
            </a:extLst>
          </p:cNvPr>
          <p:cNvSpPr txBox="1">
            <a:spLocks/>
          </p:cNvSpPr>
          <p:nvPr/>
        </p:nvSpPr>
        <p:spPr>
          <a:xfrm>
            <a:off x="704851" y="1112959"/>
            <a:ext cx="7800974" cy="5229571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  <a:p>
            <a:pPr algn="l">
              <a:lnSpc>
                <a:spcPct val="170000"/>
              </a:lnSpc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70000"/>
              </a:lnSpc>
            </a:pPr>
            <a:br>
              <a:rPr lang="en-US" dirty="0">
                <a:ln w="0">
                  <a:solidFill>
                    <a:schemeClr val="tx1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159967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82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5740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D82D0B-4C9C-46F4-A8EF-25A5B4C4A149}"/>
              </a:ext>
            </a:extLst>
          </p:cNvPr>
          <p:cNvSpPr txBox="1"/>
          <p:nvPr/>
        </p:nvSpPr>
        <p:spPr>
          <a:xfrm flipH="1">
            <a:off x="293369" y="224400"/>
            <a:ext cx="53454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4FBE9E-CAE1-45A3-8A33-72CEC054991D}"/>
              </a:ext>
            </a:extLst>
          </p:cNvPr>
          <p:cNvSpPr txBox="1"/>
          <p:nvPr/>
        </p:nvSpPr>
        <p:spPr>
          <a:xfrm>
            <a:off x="195262" y="960861"/>
            <a:ext cx="1119439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real-time SLSL to Sinhala assistive translation system for individuals with hearing and speech impairments.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is a continuation of the previous research project “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Enhancing Assistive Sign Language Converter for Individuals with Hearing and Speech Impairments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carried out by the E20 batch.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lacked localization for Sri Lankan Sign Language (SLSL).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focuses on building a localized SLSL to Sinhala voice system.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19227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05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6605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9648C-2AB8-4B57-B1FF-70F38F1AB34D}"/>
              </a:ext>
            </a:extLst>
          </p:cNvPr>
          <p:cNvSpPr txBox="1"/>
          <p:nvPr/>
        </p:nvSpPr>
        <p:spPr>
          <a:xfrm>
            <a:off x="357188" y="0"/>
            <a:ext cx="4619624" cy="90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u="sng" dirty="0">
                <a:solidFill>
                  <a:srgbClr val="002060"/>
                </a:solidFill>
                <a:latin typeface="Calisto MT" panose="02040603050505030304" pitchFamily="18" charset="0"/>
              </a:rPr>
              <a:t>MOTIVATION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51DC0AC-33AE-4BED-BBD4-1F91DF0FE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574" y="1444713"/>
            <a:ext cx="1079272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reliable translation system for Sri Lankan Sign Language (SLSL).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need for inclusive communication technologies in Sri Lanka.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0092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94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620727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493358" y="84873"/>
            <a:ext cx="6104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D63181-DD47-4F1D-A585-C9BA6EA7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9230"/>
              </p:ext>
            </p:extLst>
          </p:nvPr>
        </p:nvGraphicFramePr>
        <p:xfrm>
          <a:off x="208279" y="792759"/>
          <a:ext cx="11775442" cy="5591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5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24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449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8379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low-cost wearable glove system for real-time sign-to-speech translation.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AI to recognize gestures and convert them into synthesized speech.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 accessibility for hearing and speech-impaired individuals.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SpectraFlex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flex sensors (5 fingers) + MPU6050 motion sensor for wrist tracking Arduino collects sensor data and transmits to PC.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TensorFlow-based neural network for gesture classification Recognized 29 gesture classes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output into speech using real-time TTS.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only single-hand gestures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alphabet + few expressions.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user calibration before use.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reduces for fast or complex gestures.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portability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60002"/>
                  </a:ext>
                </a:extLst>
              </a:tr>
              <a:tr h="27036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real-time Sri Lankan Sign Language (SLSL) to text/audio translator.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 convert English text to SLSL (bi-directional system).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mainly on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alphabet-level recognition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gesture-based (no deep temporal modeling)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environment dependency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system (not fully optimized for real-time mobile use)</a:t>
                      </a:r>
                    </a:p>
                    <a:p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331802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E905D86-1A7D-456A-8665-E58C892D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8612" y="3824563"/>
            <a:ext cx="455407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 detection using Faster RCNN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CNN-based alphabet classification (26 classes)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+ Bayes theorem for word segmentation &amp; correction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Text-to-Sign using tokenization + GIF generation </a:t>
            </a:r>
          </a:p>
        </p:txBody>
      </p:sp>
    </p:spTree>
    <p:extLst>
      <p:ext uri="{BB962C8B-B14F-4D97-AF65-F5344CB8AC3E}">
        <p14:creationId xmlns:p14="http://schemas.microsoft.com/office/powerpoint/2010/main" val="2748046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620727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493358" y="84873"/>
            <a:ext cx="6104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D63181-DD47-4F1D-A585-C9BA6EA7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242283"/>
              </p:ext>
            </p:extLst>
          </p:nvPr>
        </p:nvGraphicFramePr>
        <p:xfrm>
          <a:off x="538480" y="1063868"/>
          <a:ext cx="11216641" cy="44428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4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1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18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1049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235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develop a low-cost real-time system that converts American Sign Language (ASL) hand gestures into text and speech using only a webcam and laptop.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Dataset: Created custom dataset using webcam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Preprocessing: ROI cropping, grayscale conversion, Gaussian blur, resized to 96×96.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Model: 5-layer CNN for sign classification.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Training: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Cross-Entropy Loss + Adam optimizer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Output: Predicted text converted to speech using Google Text-to-Speech (GTTS).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Only 12 static signs.</a:t>
                      </a:r>
                      <a:b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Controlled background environment.</a:t>
                      </a:r>
                      <a:b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Not suitable for continuous sign sentences.</a:t>
                      </a:r>
                      <a:b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Moderate accuracy (88%).</a:t>
                      </a:r>
                      <a:b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large dataset used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6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55602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3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620727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493358" y="74713"/>
            <a:ext cx="6104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D63181-DD47-4F1D-A585-C9BA6EA7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153976"/>
              </p:ext>
            </p:extLst>
          </p:nvPr>
        </p:nvGraphicFramePr>
        <p:xfrm>
          <a:off x="412078" y="1168686"/>
          <a:ext cx="11205284" cy="39378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53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42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2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8847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494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real-time sentence-level sign language translation system for telehealth applications in Sri Lanka.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HOW2SIGN dataset (sentence-level data)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Extracted spatial-temporal features using I3D (3D </a:t>
                      </a:r>
                      <a:r>
                        <a:rPr lang="en-US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ConvNet</a:t>
                      </a: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T5, LSTM, and Transformer models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real-time bi-directional communication using socket programming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performance: Encoder + Transformer Decoder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Relatively low BLEU scores due to dataset complexity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localized Sri Lankan Sign Language dataset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 for real-time deployment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6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55602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3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620727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493358" y="74713"/>
            <a:ext cx="6104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D63181-DD47-4F1D-A585-C9BA6EA7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537158"/>
              </p:ext>
            </p:extLst>
          </p:nvPr>
        </p:nvGraphicFramePr>
        <p:xfrm>
          <a:off x="290158" y="782599"/>
          <a:ext cx="11617361" cy="603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78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5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1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445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80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wearable glove for real-time gesture recognition.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Classify static and dynamic ASL gestures.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 machine learning on an embedded microcontroller.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 conductive knit glove with 16 strain sensors.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Added a 3-axis accelerometer for motion detection.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Collected data for 24 ASL gestures.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preprocessing and data augmentation.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an LSTM model for classification.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Deployed on an STM32 microcontroller for real-time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with a single participant.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24 gestures.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hardware glove.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2-second window causes latency.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60002"/>
                  </a:ext>
                </a:extLst>
              </a:tr>
              <a:tr h="2556101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low-cost real-time ISL to voice translation system.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 ISL gestures using computer vision.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recognized text into speech output.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Captured live video using an external camera.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ESP32-CAM for hand tracking.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Extracted 21 hand landmarks via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MediaPipe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a Random Forest classifier.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Converted text to speech using Google TTS.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using accuracy and standard metrics.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time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video processing challenges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Dependence on external processing (PC/cloud improvement suggested)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language support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GUI can be further improved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9039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55602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031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620727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493358" y="74713"/>
            <a:ext cx="61049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1D63181-DD47-4F1D-A585-C9BA6EA70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01118"/>
              </p:ext>
            </p:extLst>
          </p:nvPr>
        </p:nvGraphicFramePr>
        <p:xfrm>
          <a:off x="493358" y="821303"/>
          <a:ext cx="11205284" cy="429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3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1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2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4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2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568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a real-time vision-based sign language recognition system.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recognized gestures into text and speech.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 communication accessibility for deaf and mute individuals.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a custom dataset (A–Z alphabets) using a webcam.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preprocessing (cropping, resizing to 300×300, background normalization).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Trained two models: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Teachable Machine (baseline)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CNN (Conv2D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MaxPooling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Dense +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Softmax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80% training and 20% testing split.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real-time gesture recognition.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Text-to-Speech (pyttsx3) for voice output.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from a single participant.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Controlled background setup.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static alphabet gestures.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temporal modeling for dynamic signs.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validation in real-world environments.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760002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55602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39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71663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8C2DC-38C5-4DF4-B7F0-7DFB7B21803D}"/>
              </a:ext>
            </a:extLst>
          </p:cNvPr>
          <p:cNvSpPr txBox="1"/>
          <p:nvPr/>
        </p:nvSpPr>
        <p:spPr>
          <a:xfrm>
            <a:off x="376238" y="85826"/>
            <a:ext cx="6062662" cy="90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6DC79C8-C05F-4737-BE07-F705D0878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04" y="1443840"/>
            <a:ext cx="1032033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annotated datasets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Sri Lankan Sign Language (SLSL).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are primarily trained on ASL/BSL,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limiting relevance to Sri Lanka.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development of real time SLSL to Sinhala voice translation systems.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06538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823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4573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56BA0-B829-425C-88BC-B82EABF4F85C}"/>
              </a:ext>
            </a:extLst>
          </p:cNvPr>
          <p:cNvSpPr txBox="1"/>
          <p:nvPr/>
        </p:nvSpPr>
        <p:spPr>
          <a:xfrm>
            <a:off x="271463" y="0"/>
            <a:ext cx="4619624" cy="929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27BE7-3F9E-4A63-8920-2A6CA3594D04}"/>
              </a:ext>
            </a:extLst>
          </p:cNvPr>
          <p:cNvSpPr/>
          <p:nvPr/>
        </p:nvSpPr>
        <p:spPr>
          <a:xfrm>
            <a:off x="373828" y="836239"/>
            <a:ext cx="11444344" cy="4539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computer vision-based system that translates Sri Lankan Sign Language (SLSL) gestures into Sinhala speech.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translation performance and accuracy.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computational complexity for efficient real-time execution.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18060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2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498944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A5DDD-35EB-47EE-BEBA-E7B3C3F56D7F}"/>
              </a:ext>
            </a:extLst>
          </p:cNvPr>
          <p:cNvSpPr txBox="1"/>
          <p:nvPr/>
        </p:nvSpPr>
        <p:spPr>
          <a:xfrm>
            <a:off x="766763" y="0"/>
            <a:ext cx="4619624" cy="90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2BDD62-95B3-4A80-9C40-3EB3B3720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3368" y="907236"/>
            <a:ext cx="1219199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computer vision-based system for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SLSL recognition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and annotate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localized SLSL video dataset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deep learning models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dynamic gesture recognition.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system in a real-time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133819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59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80655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7679D-4C05-4E37-AB10-9BE5775B73FC}"/>
              </a:ext>
            </a:extLst>
          </p:cNvPr>
          <p:cNvSpPr txBox="1"/>
          <p:nvPr/>
        </p:nvSpPr>
        <p:spPr>
          <a:xfrm>
            <a:off x="645458" y="460793"/>
            <a:ext cx="94510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230F145-3A7D-472E-903A-CE093951C0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8832255"/>
              </p:ext>
            </p:extLst>
          </p:nvPr>
        </p:nvGraphicFramePr>
        <p:xfrm>
          <a:off x="807756" y="1168679"/>
          <a:ext cx="11184219" cy="5622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411073" y="6214503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96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3557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FB1BB-A8EE-4A03-B56E-078C591F492D}"/>
              </a:ext>
            </a:extLst>
          </p:cNvPr>
          <p:cNvSpPr txBox="1"/>
          <p:nvPr/>
        </p:nvSpPr>
        <p:spPr>
          <a:xfrm>
            <a:off x="204787" y="-10443"/>
            <a:ext cx="5500688" cy="988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u="sng" dirty="0">
                <a:solidFill>
                  <a:srgbClr val="002060"/>
                </a:solidFill>
                <a:latin typeface="Calisto MT" panose="0204060305050503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DCDD6-1E92-4021-A499-5D10E078107E}"/>
              </a:ext>
            </a:extLst>
          </p:cNvPr>
          <p:cNvSpPr txBox="1"/>
          <p:nvPr/>
        </p:nvSpPr>
        <p:spPr>
          <a:xfrm>
            <a:off x="2263140" y="-2853452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47F63-E7FE-4F5E-9495-C8099B1C8A22}"/>
              </a:ext>
            </a:extLst>
          </p:cNvPr>
          <p:cNvSpPr txBox="1"/>
          <p:nvPr/>
        </p:nvSpPr>
        <p:spPr>
          <a:xfrm>
            <a:off x="462914" y="978289"/>
            <a:ext cx="10109836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and Problem Analysis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Use Case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sentence-level recognition.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of Approach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vision-based system (no sensor gloves), deep learning models (CNN, LSTM, Transformer).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Existing Projects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Data Availability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SLSL video sources (Parliament, news broadcasts).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Curate, clean, and annotate word &amp; sentence-level video data.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273988" y="617044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813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3557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EFB1BB-A8EE-4A03-B56E-078C591F492D}"/>
              </a:ext>
            </a:extLst>
          </p:cNvPr>
          <p:cNvSpPr txBox="1"/>
          <p:nvPr/>
        </p:nvSpPr>
        <p:spPr>
          <a:xfrm>
            <a:off x="204787" y="-10443"/>
            <a:ext cx="5500688" cy="988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u="sng" dirty="0">
                <a:solidFill>
                  <a:srgbClr val="002060"/>
                </a:solidFill>
                <a:latin typeface="Calisto MT" panose="02040603050505030304" pitchFamily="18" charset="0"/>
              </a:rPr>
              <a:t>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DCDD6-1E92-4021-A499-5D10E078107E}"/>
              </a:ext>
            </a:extLst>
          </p:cNvPr>
          <p:cNvSpPr txBox="1"/>
          <p:nvPr/>
        </p:nvSpPr>
        <p:spPr>
          <a:xfrm>
            <a:off x="2263140" y="-2853452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2C1D08-A351-4243-9971-D245D87B46FE}"/>
              </a:ext>
            </a:extLst>
          </p:cNvPr>
          <p:cNvSpPr txBox="1"/>
          <p:nvPr/>
        </p:nvSpPr>
        <p:spPr>
          <a:xfrm>
            <a:off x="421480" y="1035920"/>
            <a:ext cx="11027569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word and sentence level video data from broadcast.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Augmentation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Crop, resize, and augment videos for training.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  <a:p>
            <a:pPr lvl="2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CNN + LSTM/Transformer for gesture recognition, integrate TTS for Sinhala and English speech.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Improvement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refine model based on accuracy and real-world performance.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247094" y="617044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0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3557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C644C-40F8-41E0-9D58-F137CED66540}"/>
              </a:ext>
            </a:extLst>
          </p:cNvPr>
          <p:cNvSpPr txBox="1"/>
          <p:nvPr/>
        </p:nvSpPr>
        <p:spPr>
          <a:xfrm>
            <a:off x="185738" y="-182158"/>
            <a:ext cx="4619624" cy="2004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u="sng" dirty="0">
                <a:solidFill>
                  <a:srgbClr val="002060"/>
                </a:solidFill>
                <a:latin typeface="Calisto MT" panose="02040603050505030304" pitchFamily="18" charset="0"/>
              </a:rPr>
              <a:t>PROGRESS</a:t>
            </a:r>
          </a:p>
          <a:p>
            <a:pPr>
              <a:lnSpc>
                <a:spcPct val="150000"/>
              </a:lnSpc>
            </a:pPr>
            <a:endParaRPr lang="en-US" sz="4400" u="sng" dirty="0">
              <a:latin typeface="Calisto MT" panose="0204060305050503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1E1A1F-C0AF-4308-84BB-A3C26BA6272B}"/>
              </a:ext>
            </a:extLst>
          </p:cNvPr>
          <p:cNvSpPr/>
          <p:nvPr/>
        </p:nvSpPr>
        <p:spPr>
          <a:xfrm>
            <a:off x="720090" y="1065446"/>
            <a:ext cx="87858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in progress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approach finalized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senior project implementation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initiated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282953" y="617044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943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8888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4F63C4-A6C7-4E3D-A742-B47B60CE8CDC}"/>
              </a:ext>
            </a:extLst>
          </p:cNvPr>
          <p:cNvSpPr txBox="1"/>
          <p:nvPr/>
        </p:nvSpPr>
        <p:spPr>
          <a:xfrm>
            <a:off x="338138" y="54114"/>
            <a:ext cx="4061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150BF86-1FB2-4B0C-AAED-FC60C43B8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836623"/>
              </p:ext>
            </p:extLst>
          </p:nvPr>
        </p:nvGraphicFramePr>
        <p:xfrm>
          <a:off x="234710" y="623537"/>
          <a:ext cx="11520413" cy="56912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3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0928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396653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Description</a:t>
                      </a:r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6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7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233">
                <a:tc>
                  <a:txBody>
                    <a:bodyPr/>
                    <a:lstStyle/>
                    <a:p>
                      <a:endParaRPr lang="en-US" sz="16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3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 Selection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Source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Annotated bibliography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421684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of Senior Project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 &amp; Augmentation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2289090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Annotation &amp; Cleaning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&amp;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1805028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of Sinhala TTS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Testing &amp; Real-Time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116325"/>
                  </a:ext>
                </a:extLst>
              </a:tr>
              <a:tr h="356258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Evaluation &amp;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Calisto MT" panose="02040603050505030304" pitchFamily="18" charset="0"/>
                      </a:endParaRP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B3A4611-7A50-4769-8A85-9D08A7FA62AC}"/>
              </a:ext>
            </a:extLst>
          </p:cNvPr>
          <p:cNvSpPr/>
          <p:nvPr/>
        </p:nvSpPr>
        <p:spPr>
          <a:xfrm>
            <a:off x="1149509" y="6368839"/>
            <a:ext cx="345440" cy="15240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16DDD5-1D17-4DEF-A495-E61D50E2CCD9}"/>
              </a:ext>
            </a:extLst>
          </p:cNvPr>
          <p:cNvSpPr txBox="1"/>
          <p:nvPr/>
        </p:nvSpPr>
        <p:spPr>
          <a:xfrm>
            <a:off x="1494949" y="6260191"/>
            <a:ext cx="174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sto MT" panose="02040603050505030304" pitchFamily="18" charset="0"/>
              </a:rPr>
              <a:t>Task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E59C0C-8661-4F5C-9B79-2935A18A73ED}"/>
              </a:ext>
            </a:extLst>
          </p:cNvPr>
          <p:cNvSpPr/>
          <p:nvPr/>
        </p:nvSpPr>
        <p:spPr>
          <a:xfrm>
            <a:off x="3587909" y="6378144"/>
            <a:ext cx="345440" cy="140314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568B8C-FBA2-4A2A-A56A-800EDE9727EE}"/>
              </a:ext>
            </a:extLst>
          </p:cNvPr>
          <p:cNvSpPr txBox="1"/>
          <p:nvPr/>
        </p:nvSpPr>
        <p:spPr>
          <a:xfrm>
            <a:off x="3933349" y="6266752"/>
            <a:ext cx="1747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listo MT" panose="02040603050505030304" pitchFamily="18" charset="0"/>
              </a:rPr>
              <a:t>Future Work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325451" y="6285643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678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6605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7CC72-1A0D-4E23-B2BE-DF1248678E1C}"/>
              </a:ext>
            </a:extLst>
          </p:cNvPr>
          <p:cNvSpPr txBox="1"/>
          <p:nvPr/>
        </p:nvSpPr>
        <p:spPr>
          <a:xfrm>
            <a:off x="138113" y="0"/>
            <a:ext cx="4619624" cy="907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42FE3-5127-4156-A632-75D90C81E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848" y="604996"/>
            <a:ext cx="10286277" cy="3685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Sinhala Sign Language lacks technological support.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real time SLSL to Sinhala speech system.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creation is the current primary focus.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improve communication accessibility in Sri Lanka.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7712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883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5589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AA69-C138-4EC6-87F1-D1C7215BBEC0}"/>
              </a:ext>
            </a:extLst>
          </p:cNvPr>
          <p:cNvSpPr txBox="1"/>
          <p:nvPr/>
        </p:nvSpPr>
        <p:spPr>
          <a:xfrm>
            <a:off x="138113" y="-136544"/>
            <a:ext cx="4619624" cy="99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3C4C-CE0D-4A85-B7F1-B599D525C3AF}"/>
              </a:ext>
            </a:extLst>
          </p:cNvPr>
          <p:cNvSpPr txBox="1"/>
          <p:nvPr/>
        </p:nvSpPr>
        <p:spPr>
          <a:xfrm>
            <a:off x="325120" y="1005840"/>
            <a:ext cx="115011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Jayawardena, D.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Kumarage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Madurapperuma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Wijesundara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Perera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Vision-Based Sri Lankan Sign Language Recognition Using Deep Learning,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2024 IEEE International Conference on Computer Vision and Pattern Recognition Workshops (CVPRW), Seattle, WA, USA, Jun. 2024, pp. 1234–1241,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10.1109/CVPRW56789.2024.11142280.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Manoj Kumar,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Bavanraj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Thavananthan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 M. A. S.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Bastiansz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M.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Harshanath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Alosious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EasyTalk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Translator for Sri Lankan Sign Language using Machine Learning and Artificial Intelligence,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in Proc. 2020 2nd International Conference on Advancements in Computing (ICAC), Malabe, Sri Lanka, Dec. 2020, pp. 506–511,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10.1109/ICAC51239.2020.9357154.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Uma Bharti, G.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Ragavi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K.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Karthika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Signtalk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Sign Language to Text and Speech Conversion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Proc. 2021 International Conference on Advancements in Electrical, Electronics, Communication, Computing and Automation (ICAECA), Coimbatore, India, Oct. 2021, pp. 1–4,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10.1109/ICAECA52838.2021.9675751.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6696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577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0509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AA69-C138-4EC6-87F1-D1C7215BBEC0}"/>
              </a:ext>
            </a:extLst>
          </p:cNvPr>
          <p:cNvSpPr txBox="1"/>
          <p:nvPr/>
        </p:nvSpPr>
        <p:spPr>
          <a:xfrm>
            <a:off x="138113" y="-136544"/>
            <a:ext cx="4619624" cy="999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3C4C-CE0D-4A85-B7F1-B599D525C3AF}"/>
              </a:ext>
            </a:extLst>
          </p:cNvPr>
          <p:cNvSpPr txBox="1"/>
          <p:nvPr/>
        </p:nvSpPr>
        <p:spPr>
          <a:xfrm>
            <a:off x="325120" y="1005840"/>
            <a:ext cx="115011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+mj-lt"/>
              <a:buAutoNum type="arabicPeriod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DelPreto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Hughes, M.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D’Aria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de Fazio and D. Rus,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Wearable Smart Glove and Its Application of Pose and Gesture Detection to Sign Language 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IEEE Robotics and Automation Letters, vol. 7, no. 4, pp. 10589–10596, Oct. 2022,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10.1109/LRA.2022.3191232.</a:t>
            </a:r>
          </a:p>
          <a:p>
            <a:pPr marL="800100" lvl="1" indent="-342900" algn="just">
              <a:buFont typeface="+mj-lt"/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Sony,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Banerjee, A. Sharma and S. Sharma,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Sign Language to Voice Using ESP32-Cam for Hand Tracking and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Hand Gesture Detection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in Proc. 2025 International Conference on Sensors and Related Networks (SENNET), Special Focus on Digital Healthcare, 2025, pp. 1–6,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10.1109/SENNET64220.2025.11135993.</a:t>
            </a:r>
          </a:p>
          <a:p>
            <a:pPr marL="800100" lvl="1" indent="-342900" algn="just">
              <a:buFont typeface="+mj-lt"/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 startAt="4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K. Reddy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Gajjala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T. J.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Nagalakshmi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Battarusetty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Avula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Vision-Based Sign Language Recognition &amp; Voice Conversion System for Inclusive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preprint, Research Square, Oct. 15 2025,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10.21203/rs.3.rs-7772657/v1.</a:t>
            </a:r>
          </a:p>
          <a:p>
            <a:pPr marL="800100" lvl="1" indent="-342900" algn="just">
              <a:buFont typeface="+mj-lt"/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448800" y="6216165"/>
            <a:ext cx="2743200" cy="365125"/>
          </a:xfrm>
        </p:spPr>
        <p:txBody>
          <a:bodyPr/>
          <a:lstStyle/>
          <a:p>
            <a:fld id="{0927AC3A-F283-4572-B36F-5839D46B10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35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2AC8EB7-975D-4423-853A-A4D525FEFB6C}"/>
              </a:ext>
            </a:extLst>
          </p:cNvPr>
          <p:cNvSpPr/>
          <p:nvPr/>
        </p:nvSpPr>
        <p:spPr>
          <a:xfrm>
            <a:off x="0" y="6555890"/>
            <a:ext cx="12192000" cy="152400"/>
          </a:xfrm>
          <a:prstGeom prst="rect">
            <a:avLst/>
          </a:prstGeom>
          <a:solidFill>
            <a:srgbClr val="000D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02AA69-C138-4EC6-87F1-D1C7215BBEC0}"/>
              </a:ext>
            </a:extLst>
          </p:cNvPr>
          <p:cNvSpPr txBox="1"/>
          <p:nvPr/>
        </p:nvSpPr>
        <p:spPr>
          <a:xfrm>
            <a:off x="3609816" y="1929170"/>
            <a:ext cx="4931728" cy="1555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200" u="sng" dirty="0">
                <a:solidFill>
                  <a:srgbClr val="002060"/>
                </a:solidFill>
                <a:latin typeface="Calisto MT" panose="0204060305050503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543C4C-CE0D-4A85-B7F1-B599D525C3AF}"/>
              </a:ext>
            </a:extLst>
          </p:cNvPr>
          <p:cNvSpPr txBox="1"/>
          <p:nvPr/>
        </p:nvSpPr>
        <p:spPr>
          <a:xfrm>
            <a:off x="325120" y="1005840"/>
            <a:ext cx="115011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+mj-lt"/>
              <a:buAutoNum type="arabicPeriod" startAt="4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952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1802</Words>
  <Application>Microsoft Office PowerPoint</Application>
  <PresentationFormat>Widescreen</PresentationFormat>
  <Paragraphs>306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Calisto MT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Ruwanthi Kalpana</dc:creator>
  <cp:lastModifiedBy>Ruwanthi Kalpana</cp:lastModifiedBy>
  <cp:revision>45</cp:revision>
  <dcterms:created xsi:type="dcterms:W3CDTF">2026-02-23T04:05:20Z</dcterms:created>
  <dcterms:modified xsi:type="dcterms:W3CDTF">2026-02-24T01:51:53Z</dcterms:modified>
</cp:coreProperties>
</file>